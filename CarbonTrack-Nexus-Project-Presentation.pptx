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Accent Band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Side Accent"/>
          <p:cNvSpPr/>
          <p:nvPr/>
        </p:nvSpPr>
        <p:spPr>
          <a:xfrm>
            <a:off x="0" y="146304"/>
            <a:ext cx="164592" cy="67116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5" name="Project Name"/>
          <p:cNvSpPr txBox="1"/>
          <p:nvPr/>
        </p:nvSpPr>
        <p:spPr>
          <a:xfrm>
            <a:off x="777240" y="1325880"/>
            <a:ext cx="10789920" cy="1508760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CarbonTrack Nexus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868680" y="2834640"/>
            <a:ext cx="9692640" cy="777240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BDEBD5"/>
                </a:solidFill>
              </a:rPr>
              <a:t>A Carbon Footprint Monitoring and Environmental Impact Analytics System</a:t>
            </a:r>
          </a:p>
        </p:txBody>
      </p:sp>
      <p:sp>
        <p:nvSpPr>
          <p:cNvPr id="7" name="Focus"/>
          <p:cNvSpPr txBox="1"/>
          <p:nvPr/>
        </p:nvSpPr>
        <p:spPr>
          <a:xfrm>
            <a:off x="868680" y="3977640"/>
            <a:ext cx="9692640" cy="1051560"/>
          </a:xfrm>
          <a:prstGeom prst="roundRect">
            <a:avLst/>
          </a:prstGeom>
          <a:solidFill>
            <a:srgbClr val="12372F"/>
          </a:solidFill>
          <a:ln w="12700">
            <a:solidFill>
              <a:srgbClr val="22C55E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F8FAFC"/>
                </a:solidFill>
              </a:rPr>
              <a:t>Introduction | Need of Project | Problems | Proposed Solution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868680" y="5989320"/>
            <a:ext cx="969264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Environmental Impact Analytics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Accent Band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Side Accent"/>
          <p:cNvSpPr/>
          <p:nvPr/>
        </p:nvSpPr>
        <p:spPr>
          <a:xfrm>
            <a:off x="0" y="146304"/>
            <a:ext cx="164592" cy="67116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594360" y="411480"/>
            <a:ext cx="1097280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30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58368" y="1078992"/>
            <a:ext cx="1078992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1500">
                <a:solidFill>
                  <a:srgbClr val="A7F3D0"/>
                </a:solidFill>
              </a:rPr>
              <a:t>A full-stack web application for personal and community-level environmental awareness.</a:t>
            </a:r>
          </a:p>
        </p:txBody>
      </p:sp>
      <p:sp>
        <p:nvSpPr>
          <p:cNvPr id="7" name="Bullet"/>
          <p:cNvSpPr txBox="1"/>
          <p:nvPr/>
        </p:nvSpPr>
        <p:spPr>
          <a:xfrm>
            <a:off x="868680" y="1737360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Tracks daily activities such as electricity usage, fuel, transport, and waste.</a:t>
            </a:r>
          </a:p>
        </p:txBody>
      </p:sp>
      <p:sp>
        <p:nvSpPr>
          <p:cNvPr id="8" name="Bullet"/>
          <p:cNvSpPr txBox="1"/>
          <p:nvPr/>
        </p:nvSpPr>
        <p:spPr>
          <a:xfrm>
            <a:off x="868680" y="2450592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Converts user activities into estimated carbon emissions in kg CO2.</a:t>
            </a:r>
          </a:p>
        </p:txBody>
      </p:sp>
      <p:sp>
        <p:nvSpPr>
          <p:cNvPr id="9" name="Bullet"/>
          <p:cNvSpPr txBox="1"/>
          <p:nvPr/>
        </p:nvSpPr>
        <p:spPr>
          <a:xfrm>
            <a:off x="868680" y="3163824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Provides dashboards, charts, monthly reports, goals, rewards, and an AI-style assistant.</a:t>
            </a:r>
          </a:p>
        </p:txBody>
      </p:sp>
      <p:sp>
        <p:nvSpPr>
          <p:cNvPr id="10" name="Bullet"/>
          <p:cNvSpPr txBox="1"/>
          <p:nvPr/>
        </p:nvSpPr>
        <p:spPr>
          <a:xfrm>
            <a:off x="868680" y="3877056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Supports administrators with high-emitter monitoring, zone reports, and complaint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Accent Band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Side Accent"/>
          <p:cNvSpPr/>
          <p:nvPr/>
        </p:nvSpPr>
        <p:spPr>
          <a:xfrm>
            <a:off x="0" y="146304"/>
            <a:ext cx="164592" cy="67116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594360" y="411480"/>
            <a:ext cx="1097280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3000" b="1">
                <a:solidFill>
                  <a:srgbClr val="FFFFFF"/>
                </a:solidFill>
              </a:rPr>
              <a:t>Why This Project Was Implemented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58368" y="1078992"/>
            <a:ext cx="1078992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1500">
                <a:solidFill>
                  <a:srgbClr val="A7F3D0"/>
                </a:solidFill>
              </a:rPr>
              <a:t>The project responds to real environmental and awareness gaps.</a:t>
            </a:r>
          </a:p>
        </p:txBody>
      </p:sp>
      <p:sp>
        <p:nvSpPr>
          <p:cNvPr id="7" name="Bullet"/>
          <p:cNvSpPr txBox="1"/>
          <p:nvPr/>
        </p:nvSpPr>
        <p:spPr>
          <a:xfrm>
            <a:off x="868680" y="1737360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Many people know pollution is harmful but do not know their own daily carbon contribution.</a:t>
            </a:r>
          </a:p>
        </p:txBody>
      </p:sp>
      <p:sp>
        <p:nvSpPr>
          <p:cNvPr id="8" name="Bullet"/>
          <p:cNvSpPr txBox="1"/>
          <p:nvPr/>
        </p:nvSpPr>
        <p:spPr>
          <a:xfrm>
            <a:off x="868680" y="2450592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Existing carbon calculators are often one-time tools and do not support continuous tracking.</a:t>
            </a:r>
          </a:p>
        </p:txBody>
      </p:sp>
      <p:sp>
        <p:nvSpPr>
          <p:cNvPr id="9" name="Bullet"/>
          <p:cNvSpPr txBox="1"/>
          <p:nvPr/>
        </p:nvSpPr>
        <p:spPr>
          <a:xfrm>
            <a:off x="868680" y="3163824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Environmental issues like vehicle smoke and waste dumping need structured reporting.</a:t>
            </a:r>
          </a:p>
        </p:txBody>
      </p:sp>
      <p:sp>
        <p:nvSpPr>
          <p:cNvPr id="10" name="Bullet"/>
          <p:cNvSpPr txBox="1"/>
          <p:nvPr/>
        </p:nvSpPr>
        <p:spPr>
          <a:xfrm>
            <a:off x="868680" y="3877056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Students and communities need a simple digital system for awareness, measurement, and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Accent Band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Side Accent"/>
          <p:cNvSpPr/>
          <p:nvPr/>
        </p:nvSpPr>
        <p:spPr>
          <a:xfrm>
            <a:off x="0" y="146304"/>
            <a:ext cx="164592" cy="67116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594360" y="411480"/>
            <a:ext cx="1097280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3000" b="1">
                <a:solidFill>
                  <a:srgbClr val="FFFFFF"/>
                </a:solidFill>
              </a:rPr>
              <a:t>Reasons To Build This Project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58368" y="1078992"/>
            <a:ext cx="1078992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1500">
                <a:solidFill>
                  <a:srgbClr val="A7F3D0"/>
                </a:solidFill>
              </a:rPr>
              <a:t>CarbonTrack connects individual behavior with community monitoring.</a:t>
            </a:r>
          </a:p>
        </p:txBody>
      </p:sp>
      <p:sp>
        <p:nvSpPr>
          <p:cNvPr id="7" name="Bullet"/>
          <p:cNvSpPr txBox="1"/>
          <p:nvPr/>
        </p:nvSpPr>
        <p:spPr>
          <a:xfrm>
            <a:off x="868680" y="1737360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To make carbon emissions visible through clear numbers, charts, and reports.</a:t>
            </a:r>
          </a:p>
        </p:txBody>
      </p:sp>
      <p:sp>
        <p:nvSpPr>
          <p:cNvPr id="8" name="Bullet"/>
          <p:cNvSpPr txBox="1"/>
          <p:nvPr/>
        </p:nvSpPr>
        <p:spPr>
          <a:xfrm>
            <a:off x="868680" y="2450592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To encourage eco-friendly habits through goals, streaks, missions, and rewards.</a:t>
            </a:r>
          </a:p>
        </p:txBody>
      </p:sp>
      <p:sp>
        <p:nvSpPr>
          <p:cNvPr id="9" name="Bullet"/>
          <p:cNvSpPr txBox="1"/>
          <p:nvPr/>
        </p:nvSpPr>
        <p:spPr>
          <a:xfrm>
            <a:off x="868680" y="3163824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To help admins identify risky zones, high emitters, and repeated complaint patterns.</a:t>
            </a:r>
          </a:p>
        </p:txBody>
      </p:sp>
      <p:sp>
        <p:nvSpPr>
          <p:cNvPr id="10" name="Bullet"/>
          <p:cNvSpPr txBox="1"/>
          <p:nvPr/>
        </p:nvSpPr>
        <p:spPr>
          <a:xfrm>
            <a:off x="868680" y="3877056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To combine carbon tracking, analytics, complaint reporting, and guidance in one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Accent Band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Side Accent"/>
          <p:cNvSpPr/>
          <p:nvPr/>
        </p:nvSpPr>
        <p:spPr>
          <a:xfrm>
            <a:off x="0" y="146304"/>
            <a:ext cx="164592" cy="67116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594360" y="411480"/>
            <a:ext cx="1097280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3000" b="1">
                <a:solidFill>
                  <a:srgbClr val="FFFFFF"/>
                </a:solidFill>
              </a:rPr>
              <a:t>Problems Faced In Current Scenario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58368" y="1078992"/>
            <a:ext cx="1078992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1500">
                <a:solidFill>
                  <a:srgbClr val="A7F3D0"/>
                </a:solidFill>
              </a:rPr>
              <a:t>Environmental data is often fragmented, manual, or difficult to act on.</a:t>
            </a:r>
          </a:p>
        </p:txBody>
      </p:sp>
      <p:sp>
        <p:nvSpPr>
          <p:cNvPr id="7" name="Bullet"/>
          <p:cNvSpPr txBox="1"/>
          <p:nvPr/>
        </p:nvSpPr>
        <p:spPr>
          <a:xfrm>
            <a:off x="868680" y="1737360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Users cannot easily track long-term emission history from everyday activities.</a:t>
            </a:r>
          </a:p>
        </p:txBody>
      </p:sp>
      <p:sp>
        <p:nvSpPr>
          <p:cNvPr id="8" name="Bullet"/>
          <p:cNvSpPr txBox="1"/>
          <p:nvPr/>
        </p:nvSpPr>
        <p:spPr>
          <a:xfrm>
            <a:off x="868680" y="2450592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There is limited personalized feedback on which habits increase carbon footprint.</a:t>
            </a:r>
          </a:p>
        </p:txBody>
      </p:sp>
      <p:sp>
        <p:nvSpPr>
          <p:cNvPr id="9" name="Bullet"/>
          <p:cNvSpPr txBox="1"/>
          <p:nvPr/>
        </p:nvSpPr>
        <p:spPr>
          <a:xfrm>
            <a:off x="868680" y="3163824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Local pollution complaints may lack proof, location details, and status tracking.</a:t>
            </a:r>
          </a:p>
        </p:txBody>
      </p:sp>
      <p:sp>
        <p:nvSpPr>
          <p:cNvPr id="10" name="Bullet"/>
          <p:cNvSpPr txBox="1"/>
          <p:nvPr/>
        </p:nvSpPr>
        <p:spPr>
          <a:xfrm>
            <a:off x="868680" y="3877056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Administrators may not have zone-wise analytics for identifying high-impact areas.</a:t>
            </a:r>
          </a:p>
        </p:txBody>
      </p:sp>
      <p:sp>
        <p:nvSpPr>
          <p:cNvPr id="11" name="Bullet"/>
          <p:cNvSpPr txBox="1"/>
          <p:nvPr/>
        </p:nvSpPr>
        <p:spPr>
          <a:xfrm>
            <a:off x="868680" y="4590288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Reports and summaries are difficult to generate manually for monthly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Accent Band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Side Accent"/>
          <p:cNvSpPr/>
          <p:nvPr/>
        </p:nvSpPr>
        <p:spPr>
          <a:xfrm>
            <a:off x="0" y="146304"/>
            <a:ext cx="164592" cy="67116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594360" y="411480"/>
            <a:ext cx="1097280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3000" b="1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58368" y="1078992"/>
            <a:ext cx="1078992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1500">
                <a:solidFill>
                  <a:srgbClr val="A7F3D0"/>
                </a:solidFill>
              </a:rPr>
              <a:t>A single web-based system for tracking, analysis, reporting, and action.</a:t>
            </a:r>
          </a:p>
        </p:txBody>
      </p:sp>
      <p:sp>
        <p:nvSpPr>
          <p:cNvPr id="7" name="Bullet"/>
          <p:cNvSpPr txBox="1"/>
          <p:nvPr/>
        </p:nvSpPr>
        <p:spPr>
          <a:xfrm>
            <a:off x="868680" y="1737360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Users log activity data and the system calculates category-wise emissions.</a:t>
            </a:r>
          </a:p>
        </p:txBody>
      </p:sp>
      <p:sp>
        <p:nvSpPr>
          <p:cNvPr id="8" name="Bullet"/>
          <p:cNvSpPr txBox="1"/>
          <p:nvPr/>
        </p:nvSpPr>
        <p:spPr>
          <a:xfrm>
            <a:off x="868680" y="2450592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Dashboards show green score, trends, breakdowns, and monthly performance.</a:t>
            </a:r>
          </a:p>
        </p:txBody>
      </p:sp>
      <p:sp>
        <p:nvSpPr>
          <p:cNvPr id="9" name="Bullet"/>
          <p:cNvSpPr txBox="1"/>
          <p:nvPr/>
        </p:nvSpPr>
        <p:spPr>
          <a:xfrm>
            <a:off x="868680" y="3163824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Zone-based reports compare emissions geographically and help detect pressure areas.</a:t>
            </a:r>
          </a:p>
        </p:txBody>
      </p:sp>
      <p:sp>
        <p:nvSpPr>
          <p:cNvPr id="10" name="Bullet"/>
          <p:cNvSpPr txBox="1"/>
          <p:nvPr/>
        </p:nvSpPr>
        <p:spPr>
          <a:xfrm>
            <a:off x="868680" y="3877056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Smart complaints capture environmental issues with media evidence and status updates.</a:t>
            </a:r>
          </a:p>
        </p:txBody>
      </p:sp>
      <p:sp>
        <p:nvSpPr>
          <p:cNvPr id="11" name="Bullet"/>
          <p:cNvSpPr txBox="1"/>
          <p:nvPr/>
        </p:nvSpPr>
        <p:spPr>
          <a:xfrm>
            <a:off x="868680" y="4590288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Admin panels provide live monitoring, high-emitter alerts, CSV export, and analytics.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Accent Band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Side Accent"/>
          <p:cNvSpPr/>
          <p:nvPr/>
        </p:nvSpPr>
        <p:spPr>
          <a:xfrm>
            <a:off x="0" y="146304"/>
            <a:ext cx="164592" cy="67116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594360" y="411480"/>
            <a:ext cx="1097280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3000" b="1">
                <a:solidFill>
                  <a:srgbClr val="FFFFFF"/>
                </a:solidFill>
              </a:rPr>
              <a:t>How The Project Overcomes The Problems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58368" y="1078992"/>
            <a:ext cx="1078992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1500">
                <a:solidFill>
                  <a:srgbClr val="A7F3D0"/>
                </a:solidFill>
              </a:rPr>
              <a:t>The system converts raw activity into useful decisions.</a:t>
            </a:r>
          </a:p>
        </p:txBody>
      </p:sp>
      <p:sp>
        <p:nvSpPr>
          <p:cNvPr id="7" name="Bullet"/>
          <p:cNvSpPr txBox="1"/>
          <p:nvPr/>
        </p:nvSpPr>
        <p:spPr>
          <a:xfrm>
            <a:off x="868680" y="1737360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Continuous records replace one-time estimation with meaningful emission history.</a:t>
            </a:r>
          </a:p>
        </p:txBody>
      </p:sp>
      <p:sp>
        <p:nvSpPr>
          <p:cNvPr id="8" name="Bullet"/>
          <p:cNvSpPr txBox="1"/>
          <p:nvPr/>
        </p:nvSpPr>
        <p:spPr>
          <a:xfrm>
            <a:off x="868680" y="2450592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Charts and reports help users understand which activity category causes more impact.</a:t>
            </a:r>
          </a:p>
        </p:txBody>
      </p:sp>
      <p:sp>
        <p:nvSpPr>
          <p:cNvPr id="9" name="Bullet"/>
          <p:cNvSpPr txBox="1"/>
          <p:nvPr/>
        </p:nvSpPr>
        <p:spPr>
          <a:xfrm>
            <a:off x="868680" y="3163824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Goals, streaks, missions, and rewards motivate regular low-carbon behavior.</a:t>
            </a:r>
          </a:p>
        </p:txBody>
      </p:sp>
      <p:sp>
        <p:nvSpPr>
          <p:cNvPr id="10" name="Bullet"/>
          <p:cNvSpPr txBox="1"/>
          <p:nvPr/>
        </p:nvSpPr>
        <p:spPr>
          <a:xfrm>
            <a:off x="868680" y="3877056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Complaint workflows improve evidence collection, review, and resolution tracking.</a:t>
            </a:r>
          </a:p>
        </p:txBody>
      </p:sp>
      <p:sp>
        <p:nvSpPr>
          <p:cNvPr id="11" name="Bullet"/>
          <p:cNvSpPr txBox="1"/>
          <p:nvPr/>
        </p:nvSpPr>
        <p:spPr>
          <a:xfrm>
            <a:off x="868680" y="4590288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Admin intelligence tools support faster identification of risky users, zones, and trends.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Accent Band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Side Accent"/>
          <p:cNvSpPr/>
          <p:nvPr/>
        </p:nvSpPr>
        <p:spPr>
          <a:xfrm>
            <a:off x="0" y="146304"/>
            <a:ext cx="164592" cy="67116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594360" y="411480"/>
            <a:ext cx="1097280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3000" b="1">
                <a:solidFill>
                  <a:srgbClr val="FFFFFF"/>
                </a:solidFill>
              </a:rPr>
              <a:t>Major Modules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58368" y="1078992"/>
            <a:ext cx="1078992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1500">
                <a:solidFill>
                  <a:srgbClr val="A7F3D0"/>
                </a:solidFill>
              </a:rPr>
              <a:t>Main functional areas included in the project.</a:t>
            </a:r>
          </a:p>
        </p:txBody>
      </p:sp>
      <p:sp>
        <p:nvSpPr>
          <p:cNvPr id="7" name="Bullet"/>
          <p:cNvSpPr txBox="1"/>
          <p:nvPr/>
        </p:nvSpPr>
        <p:spPr>
          <a:xfrm>
            <a:off x="868680" y="1737360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Authentication: user registration, login, JWT security, role-based access, admin OTP.</a:t>
            </a:r>
          </a:p>
        </p:txBody>
      </p:sp>
      <p:sp>
        <p:nvSpPr>
          <p:cNvPr id="8" name="Bullet"/>
          <p:cNvSpPr txBox="1"/>
          <p:nvPr/>
        </p:nvSpPr>
        <p:spPr>
          <a:xfrm>
            <a:off x="868680" y="2450592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Carbon Entry: activity logging, emission calculation, history, and monthly reports.</a:t>
            </a:r>
          </a:p>
        </p:txBody>
      </p:sp>
      <p:sp>
        <p:nvSpPr>
          <p:cNvPr id="9" name="Bullet"/>
          <p:cNvSpPr txBox="1"/>
          <p:nvPr/>
        </p:nvSpPr>
        <p:spPr>
          <a:xfrm>
            <a:off x="868680" y="3163824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User Dashboard: charts, green score, goals, leaderboard, streak center, AI assistant.</a:t>
            </a:r>
          </a:p>
        </p:txBody>
      </p:sp>
      <p:sp>
        <p:nvSpPr>
          <p:cNvPr id="10" name="Bullet"/>
          <p:cNvSpPr txBox="1"/>
          <p:nvPr/>
        </p:nvSpPr>
        <p:spPr>
          <a:xfrm>
            <a:off x="868680" y="3877056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Smart Complaints: vehicle smoke and waste dumping reports with media and location data.</a:t>
            </a:r>
          </a:p>
        </p:txBody>
      </p:sp>
      <p:sp>
        <p:nvSpPr>
          <p:cNvPr id="11" name="Bullet"/>
          <p:cNvSpPr txBox="1"/>
          <p:nvPr/>
        </p:nvSpPr>
        <p:spPr>
          <a:xfrm>
            <a:off x="868680" y="4590288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Admin Dashboard: users, high emitters, zone reports, complaints, alerts, and CSV export.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Accent Band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Side Accent"/>
          <p:cNvSpPr/>
          <p:nvPr/>
        </p:nvSpPr>
        <p:spPr>
          <a:xfrm>
            <a:off x="0" y="146304"/>
            <a:ext cx="164592" cy="67116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594360" y="411480"/>
            <a:ext cx="10972800" cy="640080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30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Presentation Layer"/>
          <p:cNvSpPr txBox="1"/>
          <p:nvPr/>
        </p:nvSpPr>
        <p:spPr>
          <a:xfrm>
            <a:off x="868680" y="1417320"/>
            <a:ext cx="10378440" cy="868680"/>
          </a:xfrm>
          <a:prstGeom prst="roundRect">
            <a:avLst/>
          </a:prstGeom>
          <a:solidFill>
            <a:srgbClr val="14532D"/>
          </a:solidFill>
          <a:ln w="12700">
            <a:solidFill>
              <a:srgbClr val="22C55E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Presentation Layer</a:t>
            </a:r>
          </a:p>
          <a:p>
            <a:pPr algn="l"/>
            <a:r>
              <a:rPr lang="en-US" sz="1800" b="1">
                <a:solidFill>
                  <a:srgbClr val="FFFFFF"/>
                </a:solidFill>
              </a:rPr>
              <a:t>React, Vite, Tailwind CSS, charts, dashboards, forms</a:t>
            </a:r>
          </a:p>
        </p:txBody>
      </p:sp>
      <p:sp>
        <p:nvSpPr>
          <p:cNvPr id="7" name="Application Layer"/>
          <p:cNvSpPr txBox="1"/>
          <p:nvPr/>
        </p:nvSpPr>
        <p:spPr>
          <a:xfrm>
            <a:off x="868680" y="2788920"/>
            <a:ext cx="10378440" cy="868680"/>
          </a:xfrm>
          <a:prstGeom prst="roundRect">
            <a:avLst/>
          </a:prstGeom>
          <a:solidFill>
            <a:srgbClr val="164E63"/>
          </a:solidFill>
          <a:ln w="12700">
            <a:solidFill>
              <a:srgbClr val="22C55E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Application Layer</a:t>
            </a:r>
          </a:p>
          <a:p>
            <a:pPr algn="l"/>
            <a:r>
              <a:rPr lang="en-US" sz="1800" b="1">
                <a:solidFill>
                  <a:srgbClr val="FFFFFF"/>
                </a:solidFill>
              </a:rPr>
              <a:t>Spring Boot APIs, security, carbon calculation, analytics, alerts</a:t>
            </a:r>
          </a:p>
        </p:txBody>
      </p:sp>
      <p:sp>
        <p:nvSpPr>
          <p:cNvPr id="8" name="Data Layer"/>
          <p:cNvSpPr txBox="1"/>
          <p:nvPr/>
        </p:nvSpPr>
        <p:spPr>
          <a:xfrm>
            <a:off x="868680" y="4160520"/>
            <a:ext cx="10378440" cy="86868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22C55E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Data Layer</a:t>
            </a:r>
          </a:p>
          <a:p>
            <a:pPr algn="l"/>
            <a:r>
              <a:rPr lang="en-US" sz="1800" b="1">
                <a:solidFill>
                  <a:srgbClr val="FFFFFF"/>
                </a:solidFill>
              </a:rPr>
              <a:t>MySQL database with users, entries, zones, goals, complaints</a:t>
            </a:r>
          </a:p>
        </p:txBody>
      </p:sp>
      <p:sp>
        <p:nvSpPr>
          <p:cNvPr id="9" name="Flow"/>
          <p:cNvSpPr txBox="1"/>
          <p:nvPr/>
        </p:nvSpPr>
        <p:spPr>
          <a:xfrm>
            <a:off x="960120" y="5577840"/>
            <a:ext cx="996696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00" tIns="91440" rIns="152400" bIns="91440"/>
          <a:lstStyle/>
          <a:p>
            <a:pPr algn="ctr"/>
            <a:r>
              <a:rPr lang="en-US" sz="1800">
                <a:solidFill>
                  <a:srgbClr val="D1FAE5"/>
                </a:solidFill>
              </a:rPr>
              <a:t>User/Admin -&gt; Frontend -&gt; REST API -&gt; Business Services -&gt; Database -&gt; Analytics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Accent Band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Side Accent"/>
          <p:cNvSpPr/>
          <p:nvPr/>
        </p:nvSpPr>
        <p:spPr>
          <a:xfrm>
            <a:off x="0" y="146304"/>
            <a:ext cx="164592" cy="67116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594360" y="411480"/>
            <a:ext cx="1097280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30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58368" y="1078992"/>
            <a:ext cx="1078992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1500">
                <a:solidFill>
                  <a:srgbClr val="A7F3D0"/>
                </a:solidFill>
              </a:rPr>
              <a:t>Technologies used to implement the system.</a:t>
            </a:r>
          </a:p>
        </p:txBody>
      </p:sp>
      <p:sp>
        <p:nvSpPr>
          <p:cNvPr id="7" name="Bullet"/>
          <p:cNvSpPr txBox="1"/>
          <p:nvPr/>
        </p:nvSpPr>
        <p:spPr>
          <a:xfrm>
            <a:off x="868680" y="1737360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Frontend: React 18, Vite, Tailwind CSS, React Router, Axios, Recharts.</a:t>
            </a:r>
          </a:p>
        </p:txBody>
      </p:sp>
      <p:sp>
        <p:nvSpPr>
          <p:cNvPr id="8" name="Bullet"/>
          <p:cNvSpPr txBox="1"/>
          <p:nvPr/>
        </p:nvSpPr>
        <p:spPr>
          <a:xfrm>
            <a:off x="868680" y="2450592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Backend: Spring Boot, Spring Security, Spring Data JPA, REST APIs.</a:t>
            </a:r>
          </a:p>
        </p:txBody>
      </p:sp>
      <p:sp>
        <p:nvSpPr>
          <p:cNvPr id="9" name="Bullet"/>
          <p:cNvSpPr txBox="1"/>
          <p:nvPr/>
        </p:nvSpPr>
        <p:spPr>
          <a:xfrm>
            <a:off x="868680" y="3163824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Database: MySQL with entities for users, roles, carbon entries, zones, goals, complaints, and notifications.</a:t>
            </a:r>
          </a:p>
        </p:txBody>
      </p:sp>
      <p:sp>
        <p:nvSpPr>
          <p:cNvPr id="10" name="Bullet"/>
          <p:cNvSpPr txBox="1"/>
          <p:nvPr/>
        </p:nvSpPr>
        <p:spPr>
          <a:xfrm>
            <a:off x="868680" y="3877056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Security: JWT authentication, role-based routing, password reset support, admin OTP verification.</a:t>
            </a:r>
          </a:p>
        </p:txBody>
      </p:sp>
      <p:sp>
        <p:nvSpPr>
          <p:cNvPr id="11" name="Bullet"/>
          <p:cNvSpPr txBox="1"/>
          <p:nvPr/>
        </p:nvSpPr>
        <p:spPr>
          <a:xfrm>
            <a:off x="868680" y="4590288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Additional features: OCR support, email service, OpenAPI documentation, PDF/report support.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Accent Band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Side Accent"/>
          <p:cNvSpPr/>
          <p:nvPr/>
        </p:nvSpPr>
        <p:spPr>
          <a:xfrm>
            <a:off x="0" y="146304"/>
            <a:ext cx="164592" cy="67116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594360" y="411480"/>
            <a:ext cx="1097280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3000" b="1">
                <a:solidFill>
                  <a:srgbClr val="FFFFFF"/>
                </a:solidFill>
              </a:rPr>
              <a:t>Expected Benefits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58368" y="1078992"/>
            <a:ext cx="1078992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1500">
                <a:solidFill>
                  <a:srgbClr val="A7F3D0"/>
                </a:solidFill>
              </a:rPr>
              <a:t>Practical value delivered by the project.</a:t>
            </a:r>
          </a:p>
        </p:txBody>
      </p:sp>
      <p:sp>
        <p:nvSpPr>
          <p:cNvPr id="7" name="Bullet"/>
          <p:cNvSpPr txBox="1"/>
          <p:nvPr/>
        </p:nvSpPr>
        <p:spPr>
          <a:xfrm>
            <a:off x="868680" y="1737360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Improves environmental awareness by showing measurable carbon impact.</a:t>
            </a:r>
          </a:p>
        </p:txBody>
      </p:sp>
      <p:sp>
        <p:nvSpPr>
          <p:cNvPr id="8" name="Bullet"/>
          <p:cNvSpPr txBox="1"/>
          <p:nvPr/>
        </p:nvSpPr>
        <p:spPr>
          <a:xfrm>
            <a:off x="868680" y="2450592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Helps users reduce emissions through feedback, goals, and behavior tracking.</a:t>
            </a:r>
          </a:p>
        </p:txBody>
      </p:sp>
      <p:sp>
        <p:nvSpPr>
          <p:cNvPr id="9" name="Bullet"/>
          <p:cNvSpPr txBox="1"/>
          <p:nvPr/>
        </p:nvSpPr>
        <p:spPr>
          <a:xfrm>
            <a:off x="868680" y="3163824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Supports civic responsibility through structured issue reporting.</a:t>
            </a:r>
          </a:p>
        </p:txBody>
      </p:sp>
      <p:sp>
        <p:nvSpPr>
          <p:cNvPr id="10" name="Bullet"/>
          <p:cNvSpPr txBox="1"/>
          <p:nvPr/>
        </p:nvSpPr>
        <p:spPr>
          <a:xfrm>
            <a:off x="868680" y="3877056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Helps administrators monitor zones, identify high emitters, and review complaints.</a:t>
            </a:r>
          </a:p>
        </p:txBody>
      </p:sp>
      <p:sp>
        <p:nvSpPr>
          <p:cNvPr id="11" name="Bullet"/>
          <p:cNvSpPr txBox="1"/>
          <p:nvPr/>
        </p:nvSpPr>
        <p:spPr>
          <a:xfrm>
            <a:off x="868680" y="4590288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Creates a scalable base for future smart-city and sustainability applications.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Accent Band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Side Accent"/>
          <p:cNvSpPr/>
          <p:nvPr/>
        </p:nvSpPr>
        <p:spPr>
          <a:xfrm>
            <a:off x="0" y="146304"/>
            <a:ext cx="164592" cy="67116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594360" y="411480"/>
            <a:ext cx="1097280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30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58368" y="1078992"/>
            <a:ext cx="1078992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152400" tIns="91440" rIns="152400" bIns="91440"/>
          <a:lstStyle/>
          <a:p>
            <a:pPr algn="l"/>
            <a:r>
              <a:rPr lang="en-US" sz="1500">
                <a:solidFill>
                  <a:srgbClr val="A7F3D0"/>
                </a:solidFill>
              </a:rPr>
              <a:t>CarbonTrack Nexus is a practical digital step toward measurable environmental action.</a:t>
            </a:r>
          </a:p>
        </p:txBody>
      </p:sp>
      <p:sp>
        <p:nvSpPr>
          <p:cNvPr id="7" name="Bullet"/>
          <p:cNvSpPr txBox="1"/>
          <p:nvPr/>
        </p:nvSpPr>
        <p:spPr>
          <a:xfrm>
            <a:off x="868680" y="1737360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The project combines personal carbon tracking with community environmental reporting.</a:t>
            </a:r>
          </a:p>
        </p:txBody>
      </p:sp>
      <p:sp>
        <p:nvSpPr>
          <p:cNvPr id="8" name="Bullet"/>
          <p:cNvSpPr txBox="1"/>
          <p:nvPr/>
        </p:nvSpPr>
        <p:spPr>
          <a:xfrm>
            <a:off x="868680" y="2450592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It solves the gap between awareness and action using dashboards, reports, alerts, and guidance.</a:t>
            </a:r>
          </a:p>
        </p:txBody>
      </p:sp>
      <p:sp>
        <p:nvSpPr>
          <p:cNvPr id="9" name="Bullet"/>
          <p:cNvSpPr txBox="1"/>
          <p:nvPr/>
        </p:nvSpPr>
        <p:spPr>
          <a:xfrm>
            <a:off x="868680" y="3163824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The three-tier architecture makes the system secure, maintainable, and expandable.</a:t>
            </a:r>
          </a:p>
        </p:txBody>
      </p:sp>
      <p:sp>
        <p:nvSpPr>
          <p:cNvPr id="10" name="Bullet"/>
          <p:cNvSpPr txBox="1"/>
          <p:nvPr/>
        </p:nvSpPr>
        <p:spPr>
          <a:xfrm>
            <a:off x="868680" y="3877056"/>
            <a:ext cx="10561320" cy="56692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52400" tIns="91440" rIns="152400" bIns="91440"/>
          <a:lstStyle/>
          <a:p>
            <a:pPr algn="l"/>
            <a:r>
              <a:rPr lang="en-US" sz="2000">
                <a:solidFill>
                  <a:srgbClr val="E5E7EB"/>
                </a:solidFill>
              </a:rPr>
              <a:t>â€¢ Future scope includes IoT sensor integration, mobile application support, and advanced prediction models.</a:t>
            </a:r>
          </a:p>
        </p:txBody>
      </p:sp>
    </p:spTree>
  </p:cSld>
  <p:clrMapOvr>
    <a:masterClrMapping/>
  </p:clrMapOvr>
</p:sld>
</file>